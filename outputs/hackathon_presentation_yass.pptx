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9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1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5855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2926080" cy="34747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× SPACE CHALLENGE 2025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JAXA衛星データによる</a:t>
            </a:r>
            <a:endParaRPr lang="en-US" sz="3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クマ出没リスク予測システム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秋田県におけるツキノワグマ遭遇リスクの空間的・時間的予測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8288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安田 直也 ｜ サイバー大学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731520" cy="73152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286000"/>
            <a:ext cx="640080" cy="64008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74320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背景と課題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0116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218名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9436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2023年度の被害者数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（うち死亡6名）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4.43倍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342900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10月の出没リスク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（年間平均比）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560320" cy="20116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大凶作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2636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2025年の堅果類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（ブナ着果指数0.1）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では2023年度にクマ人身被害が過去最多を記録。冬眠前の10月に被害が集中し、堅果類凶作がリスクを増幅させるという構造的要因があるため、「いつ・どこが危ないか」を事前予測するシステムが不可欠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AI駆動開発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本プロジェクトは複数のAIツールを組み合わせて開発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659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65960" cy="54864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005840" y="1783080"/>
            <a:ext cx="640080" cy="64008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89280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調査・JAXA API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データ取得・実装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554480"/>
            <a:ext cx="19659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2560320" y="155448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3200400" y="17830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89280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5176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自治体データ取得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実装・デバッグ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554480"/>
            <a:ext cx="19659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754880" y="1554480"/>
            <a:ext cx="196596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5394960" y="1783080"/>
            <a:ext cx="640080" cy="64008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89280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4632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一部機能の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実装支援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49440" y="1554480"/>
            <a:ext cx="1965960" cy="23774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8"/>
          <p:cNvSpPr/>
          <p:nvPr/>
        </p:nvSpPr>
        <p:spPr>
          <a:xfrm>
            <a:off x="6949440" y="1554480"/>
            <a:ext cx="196596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7589520" y="178308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189280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49440" y="2560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40880" y="2926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プレゼン資料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システムアーキテクチャ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270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 AW3D30（標高）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 DEM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768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ALOS-2 PALSAR-2（森林）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2532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森林/非森林マップ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2666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秋田県クマダス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77240" y="3282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目撃16,000件 2022-2024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776472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758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堅果類豊凶調査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724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ブナ・ミズナラ作柄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3291840" y="1005840"/>
            <a:ext cx="256032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2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520440" y="155448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4"/>
          <p:cNvSpPr/>
          <p:nvPr/>
        </p:nvSpPr>
        <p:spPr>
          <a:xfrm>
            <a:off x="356616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2022-24学習→2025予測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566160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0.954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520440" y="242316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7"/>
          <p:cNvSpPr/>
          <p:nvPr/>
        </p:nvSpPr>
        <p:spPr>
          <a:xfrm>
            <a:off x="3566160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季節係数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月別統計集計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566160" y="2852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2月×0.02 → 10月×4.43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520440" y="3291840"/>
            <a:ext cx="2103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0"/>
          <p:cNvSpPr/>
          <p:nvPr/>
        </p:nvSpPr>
        <p:spPr>
          <a:xfrm>
            <a:off x="3566160" y="3337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堅果類補正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豊凶乗数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566160" y="3721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2025年: ×1.50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9718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58064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6126480" y="1005840"/>
            <a:ext cx="274320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5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52704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62940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ヒートマップ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62940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緑→黄→赤 リスク表示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2276856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29400" y="2258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月別スライダー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629400" y="25328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12ヶ月の時間変動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26664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629400" y="3008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TOP10ランキング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6629400" y="3282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最高リスクメッシュ表示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776472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629400" y="3758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オフラインHTML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662940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サーバー不要・1.3MB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35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統合リスク ＝ 空間リスク（LightGBM） × 季節係数（統計集計） × 堅果類補正（仮置き）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>
            <a:spLocks noGrp="1"/>
          </p:cNvSpPr>
          <p:nvPr>
            <p:ph type="title"/>
          </p:nvPr>
        </p:nvSpPr>
        <p:spPr>
          <a:xfrm>
            <a:off x="244669" y="81863"/>
            <a:ext cx="7886700" cy="54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Clr>
                <a:srgbClr val="FF3399"/>
              </a:buClr>
              <a:buSzPts val="4400"/>
            </a:pPr>
            <a:r>
              <a:rPr lang="ja-JP" altLang="en-US" sz="1800"/>
              <a:t>アプリ概要</a:t>
            </a:r>
            <a:endParaRPr sz="1800"/>
          </a:p>
        </p:txBody>
      </p:sp>
      <p:pic>
        <p:nvPicPr>
          <p:cNvPr id="85" name="Google Shape;8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00" y="535651"/>
            <a:ext cx="8448845" cy="4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3880369" y="179672"/>
            <a:ext cx="1990800" cy="2727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スライダーで表示月を変更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832175" y="179672"/>
            <a:ext cx="1451925" cy="272700"/>
          </a:xfrm>
          <a:prstGeom prst="wedgeRectCallout">
            <a:avLst>
              <a:gd name="adj1" fmla="val -29166"/>
              <a:gd name="adj2" fmla="val 81326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現在地取得・表示</a:t>
            </a:r>
            <a:endParaRPr sz="1100" b="1" dirty="0">
              <a:solidFill>
                <a:schemeClr val="lt1"/>
              </a:solidFill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83325" y="3013088"/>
            <a:ext cx="1630800" cy="544725"/>
          </a:xfrm>
          <a:prstGeom prst="wedgeRectCallout">
            <a:avLst>
              <a:gd name="adj1" fmla="val -29166"/>
              <a:gd name="adj2" fmla="val 81326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当月のリスク補正係数や</a:t>
            </a:r>
            <a:endParaRPr sz="1100" b="1">
              <a:solidFill>
                <a:schemeClr val="lt1"/>
              </a:solidFill>
            </a:endParaRPr>
          </a:p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件数表示エリア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941531" y="2005725"/>
            <a:ext cx="1738800" cy="544725"/>
          </a:xfrm>
          <a:prstGeom prst="wedgeRectCallout">
            <a:avLst>
              <a:gd name="adj1" fmla="val -61785"/>
              <a:gd name="adj2" fmla="val -15653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市区町村と管轄猟友会への連絡先をホバーで表示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965281" y="4110731"/>
            <a:ext cx="957600" cy="544725"/>
          </a:xfrm>
          <a:prstGeom prst="wedgeRectCallout">
            <a:avLst>
              <a:gd name="adj1" fmla="val -61785"/>
              <a:gd name="adj2" fmla="val -15653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ja-JP" altLang="en-US" sz="1100" b="1">
                <a:solidFill>
                  <a:schemeClr val="lt1"/>
                </a:solidFill>
              </a:rPr>
              <a:t>判例エリア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725494" y="950981"/>
            <a:ext cx="957600" cy="544725"/>
          </a:xfrm>
          <a:prstGeom prst="wedgeRectCallout">
            <a:avLst>
              <a:gd name="adj1" fmla="val 73935"/>
              <a:gd name="adj2" fmla="val -20522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ja-JP" altLang="en-US" sz="1100" b="1">
                <a:solidFill>
                  <a:schemeClr val="lt1"/>
                </a:solidFill>
              </a:rPr>
              <a:t>機能</a:t>
            </a:r>
            <a:r>
              <a:rPr lang="en-US" altLang="ja-JP" sz="1100" b="1">
                <a:solidFill>
                  <a:schemeClr val="lt1"/>
                </a:solidFill>
              </a:rPr>
              <a:t>ON/OFF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709219" y="3722925"/>
            <a:ext cx="957600" cy="544725"/>
          </a:xfrm>
          <a:prstGeom prst="wedgeRectCallout">
            <a:avLst>
              <a:gd name="adj1" fmla="val 82895"/>
              <a:gd name="adj2" fmla="val -26663"/>
            </a:avLst>
          </a:prstGeom>
          <a:solidFill>
            <a:srgbClr val="00B0F0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ja-JP" altLang="en-US" sz="1100" b="1">
                <a:solidFill>
                  <a:schemeClr val="lt1"/>
                </a:solidFill>
              </a:rPr>
              <a:t>リスク</a:t>
            </a:r>
            <a:r>
              <a:rPr lang="en-US" altLang="ja-JP" sz="1100" b="1">
                <a:solidFill>
                  <a:schemeClr val="lt1"/>
                </a:solidFill>
              </a:rPr>
              <a:t>TOP10</a:t>
            </a:r>
            <a:r>
              <a:rPr lang="ja-JP" altLang="en-US" sz="1100" b="1">
                <a:solidFill>
                  <a:schemeClr val="lt1"/>
                </a:solidFill>
              </a:rPr>
              <a:t>マーク</a:t>
            </a:r>
            <a:endParaRPr sz="11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AI駆動開発フロー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1168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調査・設計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 API調査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データ仕様確認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先行研究サーベイ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1645920" cy="320040"/>
          </a:xfrm>
          <a:prstGeom prst="rect">
            <a:avLst/>
          </a:prstGeom>
          <a:solidFill>
            <a:srgbClr val="7B68EE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201168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461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データ取得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 Earth API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秋田県クマダス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堅果類豊凶データ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3429000"/>
            <a:ext cx="164592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69748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+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201168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5486400" y="1234440"/>
            <a:ext cx="502920" cy="502920"/>
          </a:xfrm>
          <a:prstGeom prst="ellipse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モデル構築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2022-2024で学習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2025年を予測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0.954達成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429000"/>
            <a:ext cx="1645920" cy="320040"/>
          </a:xfrm>
          <a:prstGeom prst="rect">
            <a:avLst/>
          </a:prstGeom>
          <a:solidFill>
            <a:srgbClr val="2DC653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995160" y="1097280"/>
            <a:ext cx="201168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7726680" y="1234440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77266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9516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2286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OpenStreetMapマップ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12ヶ月スライダー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TOP10ランキング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3429000"/>
            <a:ext cx="1645920" cy="320040"/>
          </a:xfrm>
          <a:prstGeom prst="rect">
            <a:avLst/>
          </a:prstGeom>
          <a:solidFill>
            <a:srgbClr val="FF6B35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178040" y="3429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+ Code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使用データ｜JAXA衛星データ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280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データ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衛星 / センサ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解像度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AW3D30 標高（DEM）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ALOS / PRISM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~1km (ppu=120)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標高帯でクマ生息域を特定（重要度28.7%）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PALSAR-2 FNF（森林）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ALOS-2 / PALSAR-2（SAR）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~1km (ppu=120)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森林/非森林の二値分類（重要度4.5%）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06040"/>
            <a:ext cx="3931920" cy="14630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457200" y="2606040"/>
            <a:ext cx="393192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ALOS衛星 AW3D30（標高）</a:t>
            </a:r>
            <a:endParaRPr lang="en-US" sz="1400" dirty="0"/>
          </a:p>
        </p:txBody>
      </p:sp>
      <p:sp>
        <p:nvSpPr>
          <p:cNvPr id="3" name="Text 4"/>
          <p:cNvSpPr/>
          <p:nvPr/>
        </p:nvSpPr>
        <p:spPr>
          <a:xfrm>
            <a:off x="640080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ALOS（だいち）PRISMセンサ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元解像度: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 → API経由でppu=120（~1km）にリサンプル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固定データ（2021年、時系列なし）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2606040"/>
            <a:ext cx="3931920" cy="14630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4754880" y="2606040"/>
            <a:ext cx="3931920" cy="457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ALOS-2衛星 PALSAR-2（森林）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ALOS-2（だいち2号）Lバンド SAR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元解像度: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 → API経由でppu=120（~1km）にリサンプル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形式: </a:t>
            </a:r>
            <a:r>
              <a:rPr lang="en-US" sz="105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固定データ（2020年、時系列なし）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E8F4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640080" y="4233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 Earth API経由でデータ取得。この2種のJAXA衛星データがモデル全体の33.2%の判断根拠を提供。取得時にppu=120を指定し約1kmメッシュにリサンプルして使用。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使用データ｜地上データ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秋田県クマダス（目撃データ）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秋田県オープンデータ（CC-BY 4.0）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2022年度〜2024年度（約16,000件）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日時・緯度経度・種別（目撃/痕跡/被害）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正例データ（target=1）＋季節係数の算出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1kmメッシュに集約、月別バイナリ分類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93192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堅果類豊凶データ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9202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秋田県林業研究研修センター等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2002年〜2025年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ブナ着果指数・ミズナラ豊凶等級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年次リスク補正（大凶作→×1.50）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</a:t>
            </a: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補正式は仮置き（定量検証未実施）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技術詳細｜機械学習モデル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(Gradient Boosting)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二値分類（出没あり/なし）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2022-2024年の目撃データで学習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368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2025年の全メッシュ×12ヶ月を予測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52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752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緯度, 経度, 標高, 森林, 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136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 ＝ 実際の出没地点を95.4%の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確率で非出没地点より高リスクと判定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04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904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≧80% → F1最大化閾値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特徴量重要度（Gain）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1645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1682496"/>
            <a:ext cx="219456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852160" y="1682496"/>
            <a:ext cx="1996005" cy="219456"/>
          </a:xfrm>
          <a:prstGeom prst="rect">
            <a:avLst/>
          </a:prstGeom>
          <a:solidFill>
            <a:srgbClr val="AABB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921317" y="1645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38.2%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103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2139696"/>
            <a:ext cx="219456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852160" y="2139696"/>
            <a:ext cx="1499616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424928" y="21031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2596896"/>
            <a:ext cx="219456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5852160" y="2596896"/>
            <a:ext cx="1316736" cy="219456"/>
          </a:xfrm>
          <a:prstGeom prst="rect">
            <a:avLst/>
          </a:prstGeom>
          <a:solidFill>
            <a:srgbClr val="AABBC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7242048" y="25603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0175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054096"/>
            <a:ext cx="219456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5852160" y="3054096"/>
            <a:ext cx="235131" cy="219456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160443" y="30175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474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52160" y="3511296"/>
            <a:ext cx="219456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5852160" y="3511296"/>
            <a:ext cx="177655" cy="219456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6102967" y="34747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4023360"/>
            <a:ext cx="3657600" cy="32004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0292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JAXA衛星データ（標高+森林）: 33.2%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技術詳細｜リスクスコア計算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 TOP1メッシュ（北秋田郡付近）の計算例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828800" cy="731520"/>
          </a:xfrm>
          <a:prstGeom prst="rect">
            <a:avLst/>
          </a:prstGeom>
          <a:solidFill>
            <a:srgbClr val="00B4D8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空間リスク（LightGBM）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508760"/>
            <a:ext cx="1828800" cy="731520"/>
          </a:xfrm>
          <a:prstGeom prst="rect">
            <a:avLst/>
          </a:prstGeom>
          <a:solidFill>
            <a:srgbClr val="7B68EE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01752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×7.36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季節係数（統計集計）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1508760"/>
            <a:ext cx="1828800" cy="731520"/>
          </a:xfrm>
          <a:prstGeom prst="rect">
            <a:avLst/>
          </a:prstGeom>
          <a:solidFill>
            <a:srgbClr val="FF6B35">
              <a:alpha val="1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堅果補正（仮置き）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0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63840" y="1508760"/>
            <a:ext cx="777240" cy="731520"/>
          </a:xfrm>
          <a:prstGeom prst="rect">
            <a:avLst/>
          </a:prstGeom>
          <a:solidFill>
            <a:srgbClr val="D730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863840" y="15087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905.6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840" y="1965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統合スコア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パラメータの影響度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変動幅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 → 最大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影響度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季節変動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2月 ×0.02 → 10月 ×4.43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最大の影響因子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堅果類豊凶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豊作 ×0.70 → 大凶作 ×1.50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年次間差を表現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条件組合せ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2月豊作 ×0.014 → 10月大凶作 ×6.64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リスク差の全体像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技術詳細｜Webアプリケーション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地図エンジン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OpenStreetMap（Leaflet.js）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ヒートマップ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947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leaflet-heat（動的zoom対応）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2951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ダークモード対応UI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426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データ形式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6426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JSON埋め込み（~1.3MB）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配信形式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990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自己完結型HTML（単一ファイル）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動作環境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3337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モダンブラウザ（サーバー不要）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機械学習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LightGBM（事前推論）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0325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データ取得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40325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 Earth API (jaxa_earth)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事前推論アーキテクチャ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0" y="1645920"/>
            <a:ext cx="34747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68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2120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generate_risk_map.py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1762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377440"/>
            <a:ext cx="34747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21208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1月〜12月 一括推論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risk_data_2025.json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9077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3108960"/>
            <a:ext cx="34747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5212080" y="3154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&lt;script&gt; 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RISK_DATA = {...}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6393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840480"/>
            <a:ext cx="347472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21208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ブラウザで即表示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オフライン動作OK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推論結果と月別サマリ抜粋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74320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季節係数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高リスクメッシュ数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同月過去目撃数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リスクレベル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低〜注意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1,899件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注意〜警戒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×4.43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7,347件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危険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×2.41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3,991件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警戒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10月は高リスクメッシュ数が年間最大の1,932メッシュ（秋田県全体の約30%）に達し、過去の目撃7,347件と高い整合性。2025年は堅果類大凶作（×1.50）のため例年以上の出没リスク。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まとめと今後の展望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本プロジェクトの成果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JAXA衛星データ（AW3D30 + PALSAR-2）で2022-2024年を学習し2025年を予測（AUC 0.954）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季節変動（221倍）と堅果類豊凶（2.1倍）を組み合わせたハイブリッドリスク予測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サーバー不要のオフラインHTML Webアプリとして提供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AI駆動開発により短期間でプロトタイプを実現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292608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1480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今後の改善点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堅果類補正の定量的検証（仮置き→回帰分析ベース）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GCOM-C 250m NDVI活用による解像度向上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クマ個体数・生息域データの統合（カメラトラップ等）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自治体向け通知連携（メール/LINE配信）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697480" cy="3291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974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シミュレータ（予測機能）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地表面温度や天気情報を特徴量として追加し、当日・翌日の条件入力でリアルタイムに近い予測を実現。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追加特徴量: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地表面温度（LST）、天気、降水量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入力方式: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当日/明日の気象条件をユーザーが入力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月単位 → 日単位のリスク予測へ進化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97480" cy="3291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69748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9844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熊の生息位置の可視化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高リスク周辺の高標高・森林エリア沿いに熊アイコンを表示し、方向を視覚的に提示。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3756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表示ロジック: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高リスク周辺の高標高＋森林メッシュを探索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アイコン: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熊マーカーで生息推定方向を地図上に表示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「どこが危険」＋「どこに熊がいるか」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5F7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2"/>
          <p:cNvSpPr/>
          <p:nvPr/>
        </p:nvSpPr>
        <p:spPr>
          <a:xfrm>
            <a:off x="6126480" y="1097280"/>
            <a:ext cx="2697480" cy="54864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9844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堅果類補正の定量検証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178308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現在仮置きの堅果類補正係数を、過去データの回帰分析に基づく定量的な値に置き換える。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63640" y="274320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仮置き（豊作×0.70〜大凶作×1.50）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手法: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豊凶指数×目撃件数の回帰分析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</a:t>
            </a: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経験則 → データ駆動の補正係数へ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1098</Words>
  <Application>Microsoft Macintosh PowerPoint</Application>
  <PresentationFormat>画面に合わせる (16:9)</PresentationFormat>
  <Paragraphs>298</Paragraphs>
  <Slides>14</Slides>
  <Notes>14</Notes>
  <HiddenSlides>6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アプリ概要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× JAXA衛星データによるクマ出没リスク予測</dc:title>
  <dc:subject>PptxGenJS Presentation</dc:subject>
  <dc:creator>Naoya Yasuda / CYBER × SPACE CHALLENGE</dc:creator>
  <cp:lastModifiedBy>安田直也</cp:lastModifiedBy>
  <cp:revision>5</cp:revision>
  <dcterms:created xsi:type="dcterms:W3CDTF">2026-02-15T00:07:18Z</dcterms:created>
  <dcterms:modified xsi:type="dcterms:W3CDTF">2026-02-15T00:13:07Z</dcterms:modified>
</cp:coreProperties>
</file>